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FEB1_1988CAC9.xml" ContentType="application/vnd.ms-powerpoint.comments+xml"/>
  <Override PartName="/ppt/media/image2.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14748331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4AE93E-16AC-06F8-D2DA-364E9A04F74C}" name="Kurniawan Adina Kusuma" initials="KK" userId="S::kurniawan.adina@telkom.co.id::d89baf84-5241-4185-9a32-f744c27d0dc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B7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8335C-BC68-4E86-3176-797F461D1F40}" v="10" dt="2025-11-21T08:01:34.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18" autoAdjust="0"/>
    <p:restoredTop sz="94701"/>
  </p:normalViewPr>
  <p:slideViewPr>
    <p:cSldViewPr snapToGrid="0">
      <p:cViewPr varScale="1">
        <p:scale>
          <a:sx n="57" d="100"/>
          <a:sy n="57" d="100"/>
        </p:scale>
        <p:origin x="1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microsoft.com/office/2018/10/relationships/authors" Target="authors.xml"/></Relationships>
</file>

<file path=ppt/comments/modernComment_7FFFFEB1_1988CAC9.xml><?xml version="1.0" encoding="utf-8"?>
<p188:cmLst xmlns:a="http://schemas.openxmlformats.org/drawingml/2006/main" xmlns:r="http://schemas.openxmlformats.org/officeDocument/2006/relationships" xmlns:p188="http://schemas.microsoft.com/office/powerpoint/2018/8/main">
  <p188:cm id="{E0DE4E96-09BE-7749-AA44-1096177705D8}" authorId="{424AE93E-16AC-06F8-D2DA-364E9A04F74C}" created="2025-11-19T03:47:20.668">
    <ac:deMkLst xmlns:ac="http://schemas.microsoft.com/office/drawing/2013/main/command">
      <pc:docMk xmlns:pc="http://schemas.microsoft.com/office/powerpoint/2013/main/command"/>
      <pc:sldMk xmlns:pc="http://schemas.microsoft.com/office/powerpoint/2013/main/command" cId="428395209" sldId="2147483313"/>
      <ac:spMk id="14" creationId="{77763B0D-4969-CFCB-50EC-6B0CDF3DFA01}"/>
    </ac:deMkLst>
    <p188:txBody>
      <a:bodyPr/>
      <a:lstStyle/>
      <a:p>
        <a:r>
          <a:rPr lang="en-US"/>
          <a:t>Source Generate AI dari SPEL, CV</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7B3E-82E0-1912-B93D-208D9642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5D67F2-68AA-E49D-10D9-B0897A7CE1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71B5BA-2890-79C7-D714-33F1664C33EC}"/>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44C50EF7-001E-3778-EC62-C0B498CF1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19C63-D988-DD3A-9788-3F1A29EAB491}"/>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758685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A3A2-DBA7-12A2-666C-00FEF2C45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4FB1C9-F1DC-6BCF-918B-BFB0EC22A5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8FBA2-906D-8DCA-3042-E1C77663CFA1}"/>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0A1013C9-7E36-CAAE-AA2A-CF6A0519B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E60FB-198E-80C9-20CB-22E1CDC0F7DF}"/>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254459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762E-952A-124C-80DE-C45CCEA08A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DD80C9-C387-EA37-FE62-49D487B862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DF0191-86E1-088B-E381-BFF4ABBF39F2}"/>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D6F20C16-9C40-B6AE-F776-2A71AC4B9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CA7D9-6B8B-83A3-6F0A-25E0003030FD}"/>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420129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1B04-0425-E15A-041C-C8B2112B5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71F5B7-280F-31A7-35D5-D947A2EF54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FE409F-7891-0522-79CD-DCB12990C1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107FBB-0027-D9C5-71E3-B98D26A92AF7}"/>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905FF752-663A-6510-2F54-BF18645551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CFAD44-6C5B-EA3D-632B-F3526CC0E2D4}"/>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23745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A226-50C6-CC0D-083F-EAE86FF06F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BBC7F5-471C-8759-1C63-E4C2F86ACE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55C70B-552B-D0E1-2EB7-DAC4618D7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CF0C4-1973-2C27-022A-1965346E97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6ACDF9-03FB-2195-C93A-A4FFB50D6E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73918F-68F5-4813-88DD-DAE00CD7C2D1}"/>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8" name="Footer Placeholder 7">
            <a:extLst>
              <a:ext uri="{FF2B5EF4-FFF2-40B4-BE49-F238E27FC236}">
                <a16:creationId xmlns:a16="http://schemas.microsoft.com/office/drawing/2014/main" id="{29D636F2-EB3C-E895-2060-010560C248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E2429-4012-1BF3-1888-289FE2E19972}"/>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370542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D6CA2-63D9-DADE-4DA5-4A77A2D6F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F98857-C726-0E8E-AA1E-F6DA1F526340}"/>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4" name="Footer Placeholder 3">
            <a:extLst>
              <a:ext uri="{FF2B5EF4-FFF2-40B4-BE49-F238E27FC236}">
                <a16:creationId xmlns:a16="http://schemas.microsoft.com/office/drawing/2014/main" id="{BAC7549C-5988-D236-0AA5-9D3ADBD061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2004BE-D737-9F1A-4A69-4E00EEF98218}"/>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43259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7B7DF-8D75-9D9B-6576-EA94D1206E52}"/>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3" name="Footer Placeholder 2">
            <a:extLst>
              <a:ext uri="{FF2B5EF4-FFF2-40B4-BE49-F238E27FC236}">
                <a16:creationId xmlns:a16="http://schemas.microsoft.com/office/drawing/2014/main" id="{E3A4B4B2-4058-7715-447D-78E7B6D499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2C786A-59A7-229E-8F85-AD5C03999336}"/>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99094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936C-C339-B2FF-C09B-B9E0F06DD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33D4BD-23B2-3098-9E6E-A7BFAC405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9694D7-66D7-4171-003A-95C26EB36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2E11F-3E49-D3CF-4116-5EA8B776C4FF}"/>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2443DF95-338B-52B6-7293-FF8F85192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653FA-60E0-BA0D-FE30-F5BFFAD8A08C}"/>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3069246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26AA-11A1-7B7A-445F-BD72BC7875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29D50F-9F5A-35C7-D513-DCBF6C219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1B025B-F703-B099-8BB7-7E31D13A3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E1D8C-554F-3164-90F8-898427F68F09}"/>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925A6540-EBAC-8799-D7D8-F07724BE3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2D1B5-AE0A-B8D7-B5C2-0685034EA8B8}"/>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801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15CD-BE3D-9A4A-D0BC-693324DBFB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B120AF-2023-1BBC-01B3-087669249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C66FE-14C2-963F-5909-8ADC089CE9F6}"/>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1BFAEDF5-3775-FB2C-97B6-4EB29D98E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00737-7F8C-2073-FE58-FDDCF0EAEBF3}"/>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12752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4121A-46A1-2A28-71BF-7CCD15FFE2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8A3B75-59E6-733F-F74D-D731A2062A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AE976-396F-CAAC-30E5-7A399F3BA3B8}"/>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EF4C9DCE-A6C3-0BD7-6F52-432A261885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26E4F-42B9-488B-435C-417B7DF518AC}"/>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303498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Custom Layout">
    <p:bg>
      <p:bgPr>
        <a:gradFill>
          <a:gsLst>
            <a:gs pos="0">
              <a:schemeClr val="bg1">
                <a:lumMod val="95000"/>
              </a:schemeClr>
            </a:gs>
            <a:gs pos="100000">
              <a:schemeClr val="bg1"/>
            </a:gs>
          </a:gsLst>
          <a:lin ang="16200000" scaled="1"/>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5A913CC-71C2-FDFB-0132-4B3CD90F5C57}"/>
              </a:ext>
            </a:extLst>
          </p:cNvPr>
          <p:cNvSpPr/>
          <p:nvPr userDrawn="1"/>
        </p:nvSpPr>
        <p:spPr>
          <a:xfrm rot="6123235" flipH="1" flipV="1">
            <a:off x="-972928" y="-902226"/>
            <a:ext cx="1655619" cy="1655618"/>
          </a:xfrm>
          <a:custGeom>
            <a:avLst/>
            <a:gdLst>
              <a:gd name="connsiteX0" fmla="*/ 16032780 w 17696381"/>
              <a:gd name="connsiteY0" fmla="*/ 1 h 17696380"/>
              <a:gd name="connsiteX1" fmla="*/ 17696379 w 17696381"/>
              <a:gd name="connsiteY1" fmla="*/ 0 h 17696380"/>
              <a:gd name="connsiteX2" fmla="*/ 17696381 w 17696381"/>
              <a:gd name="connsiteY2" fmla="*/ 7790564 h 17696380"/>
              <a:gd name="connsiteX3" fmla="*/ 0 w 17696381"/>
              <a:gd name="connsiteY3" fmla="*/ 17696380 h 17696380"/>
              <a:gd name="connsiteX4" fmla="*/ 1 w 17696381"/>
              <a:gd name="connsiteY4" fmla="*/ 12267243 h 17696380"/>
              <a:gd name="connsiteX5" fmla="*/ 8412119 w 17696381"/>
              <a:gd name="connsiteY5" fmla="*/ 10470917 h 17696380"/>
              <a:gd name="connsiteX6" fmla="*/ 9955046 w 17696381"/>
              <a:gd name="connsiteY6" fmla="*/ 17696380 h 1769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96381" h="17696380">
                <a:moveTo>
                  <a:pt x="16032780" y="1"/>
                </a:moveTo>
                <a:lnTo>
                  <a:pt x="17696379" y="0"/>
                </a:lnTo>
                <a:lnTo>
                  <a:pt x="17696381" y="7790564"/>
                </a:lnTo>
                <a:close/>
                <a:moveTo>
                  <a:pt x="0" y="17696380"/>
                </a:moveTo>
                <a:lnTo>
                  <a:pt x="1" y="12267243"/>
                </a:lnTo>
                <a:lnTo>
                  <a:pt x="8412119" y="10470917"/>
                </a:lnTo>
                <a:lnTo>
                  <a:pt x="9955046" y="17696380"/>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p>
            <a:endParaRPr lang="en-ID"/>
          </a:p>
        </p:txBody>
      </p:sp>
      <p:pic>
        <p:nvPicPr>
          <p:cNvPr id="18" name="Picture 17" descr="A logo with a red and white circle&#10;&#10;Description automatically generated">
            <a:extLst>
              <a:ext uri="{FF2B5EF4-FFF2-40B4-BE49-F238E27FC236}">
                <a16:creationId xmlns:a16="http://schemas.microsoft.com/office/drawing/2014/main" id="{94CC815D-91B1-CE25-F190-0CB7CE6783A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56823" t="7827" r="5294" b="42858"/>
          <a:stretch/>
        </p:blipFill>
        <p:spPr>
          <a:xfrm>
            <a:off x="11563571" y="79674"/>
            <a:ext cx="540000" cy="540000"/>
          </a:xfrm>
          <a:prstGeom prst="rect">
            <a:avLst/>
          </a:prstGeom>
        </p:spPr>
      </p:pic>
      <p:sp>
        <p:nvSpPr>
          <p:cNvPr id="10" name="Freeform: Shape 9">
            <a:extLst>
              <a:ext uri="{FF2B5EF4-FFF2-40B4-BE49-F238E27FC236}">
                <a16:creationId xmlns:a16="http://schemas.microsoft.com/office/drawing/2014/main" id="{03713D62-CDAE-9C86-283B-58C053C448BD}"/>
              </a:ext>
            </a:extLst>
          </p:cNvPr>
          <p:cNvSpPr/>
          <p:nvPr userDrawn="1"/>
        </p:nvSpPr>
        <p:spPr>
          <a:xfrm rot="7617854">
            <a:off x="5791248" y="4291880"/>
            <a:ext cx="14843669" cy="14843670"/>
          </a:xfrm>
          <a:custGeom>
            <a:avLst/>
            <a:gdLst>
              <a:gd name="connsiteX0" fmla="*/ 14843668 w 14843669"/>
              <a:gd name="connsiteY0" fmla="*/ 3765463 h 14843670"/>
              <a:gd name="connsiteX1" fmla="*/ 12009874 w 14843669"/>
              <a:gd name="connsiteY1" fmla="*/ 0 h 14843670"/>
              <a:gd name="connsiteX2" fmla="*/ 14843669 w 14843669"/>
              <a:gd name="connsiteY2" fmla="*/ 3 h 14843670"/>
              <a:gd name="connsiteX3" fmla="*/ 0 w 14843669"/>
              <a:gd name="connsiteY3" fmla="*/ 14843668 h 14843670"/>
              <a:gd name="connsiteX4" fmla="*/ 0 w 14843669"/>
              <a:gd name="connsiteY4" fmla="*/ 13725778 h 14843670"/>
              <a:gd name="connsiteX5" fmla="*/ 268808 w 14843669"/>
              <a:gd name="connsiteY5" fmla="*/ 14082962 h 14843670"/>
              <a:gd name="connsiteX6" fmla="*/ 4156059 w 14843669"/>
              <a:gd name="connsiteY6" fmla="*/ 11157511 h 14843670"/>
              <a:gd name="connsiteX7" fmla="*/ 6930173 w 14843669"/>
              <a:gd name="connsiteY7" fmla="*/ 14843670 h 1484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43669" h="14843670">
                <a:moveTo>
                  <a:pt x="14843668" y="3765463"/>
                </a:moveTo>
                <a:lnTo>
                  <a:pt x="12009874" y="0"/>
                </a:lnTo>
                <a:lnTo>
                  <a:pt x="14843669" y="3"/>
                </a:lnTo>
                <a:close/>
                <a:moveTo>
                  <a:pt x="0" y="14843668"/>
                </a:moveTo>
                <a:lnTo>
                  <a:pt x="0" y="13725778"/>
                </a:lnTo>
                <a:lnTo>
                  <a:pt x="268808" y="14082962"/>
                </a:lnTo>
                <a:lnTo>
                  <a:pt x="4156059" y="11157511"/>
                </a:lnTo>
                <a:lnTo>
                  <a:pt x="6930173" y="14843670"/>
                </a:lnTo>
                <a:close/>
              </a:path>
            </a:pathLst>
          </a:custGeom>
          <a:blipFill dpi="0" rotWithShape="1">
            <a:blip r:embed="rId5">
              <a:alphaModFix amt="20000"/>
              <a:extLst>
                <a:ext uri="{96DAC541-7B7A-43D3-8B79-37D633B846F1}">
                  <asvg:svgBlip xmlns:asvg="http://schemas.microsoft.com/office/drawing/2016/SVG/main" r:embed="rId6"/>
                </a:ext>
              </a:extLst>
            </a:blip>
            <a:srcRect/>
            <a:stretch>
              <a:fillRect/>
            </a:stretch>
          </a:blipFill>
        </p:spPr>
        <p:txBody>
          <a:bodyPr wrap="square">
            <a:noAutofit/>
          </a:bodyPr>
          <a:lstStyle/>
          <a:p>
            <a:endParaRPr lang="en-ID"/>
          </a:p>
        </p:txBody>
      </p:sp>
    </p:spTree>
    <p:extLst>
      <p:ext uri="{BB962C8B-B14F-4D97-AF65-F5344CB8AC3E}">
        <p14:creationId xmlns:p14="http://schemas.microsoft.com/office/powerpoint/2010/main" val="20371710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017940-D85E-D97C-C2D6-C9E7B5B3E5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A4B3A2-57D1-E67D-CA51-9BD82E0D47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53BC5F-532C-A175-04BF-AE3DD5176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13095A65-FFA6-26F4-12A9-DB599BF556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8221E-5157-63A9-46E3-B13B5E720F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7B0BD-A225-492D-B74F-A7A181EE3000}" type="slidenum">
              <a:rPr lang="en-US" smtClean="0"/>
              <a:t>‹#›</a:t>
            </a:fld>
            <a:endParaRPr lang="en-US"/>
          </a:p>
        </p:txBody>
      </p:sp>
    </p:spTree>
    <p:extLst>
      <p:ext uri="{BB962C8B-B14F-4D97-AF65-F5344CB8AC3E}">
        <p14:creationId xmlns:p14="http://schemas.microsoft.com/office/powerpoint/2010/main" val="2663050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7FFFFEB1_1988CAC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4BEB-0F4C-E1B3-3A5A-F45CC0429002}"/>
            </a:ext>
          </a:extLst>
        </p:cNvPr>
        <p:cNvGrpSpPr/>
        <p:nvPr/>
      </p:nvGrpSpPr>
      <p:grpSpPr>
        <a:xfrm>
          <a:off x="0" y="0"/>
          <a:ext cx="0" cy="0"/>
          <a:chOff x="0" y="0"/>
          <a:chExt cx="0" cy="0"/>
        </a:xfrm>
      </p:grpSpPr>
      <p:sp>
        <p:nvSpPr>
          <p:cNvPr id="2" name="Rectangle: Diagonal Corners Snipped 1">
            <a:extLst>
              <a:ext uri="{FF2B5EF4-FFF2-40B4-BE49-F238E27FC236}">
                <a16:creationId xmlns:a16="http://schemas.microsoft.com/office/drawing/2014/main" id="{4FE46275-FD47-3CB7-2DEC-0FC6194133B3}"/>
              </a:ext>
            </a:extLst>
          </p:cNvPr>
          <p:cNvSpPr/>
          <p:nvPr/>
        </p:nvSpPr>
        <p:spPr>
          <a:xfrm>
            <a:off x="406400" y="1901171"/>
            <a:ext cx="2630303"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Skill</a:t>
            </a:r>
          </a:p>
        </p:txBody>
      </p:sp>
      <p:sp>
        <p:nvSpPr>
          <p:cNvPr id="3" name="Rectangle: Diagonal Corners Snipped 2">
            <a:extLst>
              <a:ext uri="{FF2B5EF4-FFF2-40B4-BE49-F238E27FC236}">
                <a16:creationId xmlns:a16="http://schemas.microsoft.com/office/drawing/2014/main" id="{5CCB748A-81D8-B980-F6BB-DC2409599ADD}"/>
              </a:ext>
            </a:extLst>
          </p:cNvPr>
          <p:cNvSpPr/>
          <p:nvPr/>
        </p:nvSpPr>
        <p:spPr>
          <a:xfrm>
            <a:off x="3060246" y="1901171"/>
            <a:ext cx="1097686"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Performance</a:t>
            </a:r>
          </a:p>
        </p:txBody>
      </p:sp>
      <p:sp>
        <p:nvSpPr>
          <p:cNvPr id="4" name="Rectangle: Diagonal Corners Snipped 3">
            <a:extLst>
              <a:ext uri="{FF2B5EF4-FFF2-40B4-BE49-F238E27FC236}">
                <a16:creationId xmlns:a16="http://schemas.microsoft.com/office/drawing/2014/main" id="{8E19C6B9-6DA6-D28F-0321-E605CF2B3601}"/>
              </a:ext>
            </a:extLst>
          </p:cNvPr>
          <p:cNvSpPr/>
          <p:nvPr/>
        </p:nvSpPr>
        <p:spPr>
          <a:xfrm>
            <a:off x="4181475" y="1901171"/>
            <a:ext cx="3852595"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Experiences</a:t>
            </a:r>
          </a:p>
        </p:txBody>
      </p:sp>
      <p:sp>
        <p:nvSpPr>
          <p:cNvPr id="5" name="Rectangle: Diagonal Corners Snipped 4">
            <a:extLst>
              <a:ext uri="{FF2B5EF4-FFF2-40B4-BE49-F238E27FC236}">
                <a16:creationId xmlns:a16="http://schemas.microsoft.com/office/drawing/2014/main" id="{B10E853A-F89C-7C0E-4C32-367DBDD16E8D}"/>
              </a:ext>
            </a:extLst>
          </p:cNvPr>
          <p:cNvSpPr/>
          <p:nvPr/>
        </p:nvSpPr>
        <p:spPr>
          <a:xfrm>
            <a:off x="8070800" y="1901171"/>
            <a:ext cx="3907840"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Leadership</a:t>
            </a:r>
          </a:p>
        </p:txBody>
      </p:sp>
      <p:graphicFrame>
        <p:nvGraphicFramePr>
          <p:cNvPr id="7" name="Table 6">
            <a:extLst>
              <a:ext uri="{FF2B5EF4-FFF2-40B4-BE49-F238E27FC236}">
                <a16:creationId xmlns:a16="http://schemas.microsoft.com/office/drawing/2014/main" id="{E36B53FF-8FEF-B224-73A3-D9CB99EFEEFE}"/>
              </a:ext>
            </a:extLst>
          </p:cNvPr>
          <p:cNvGraphicFramePr>
            <a:graphicFrameLocks noGrp="1"/>
          </p:cNvGraphicFramePr>
          <p:nvPr>
            <p:extLst>
              <p:ext uri="{D42A27DB-BD31-4B8C-83A1-F6EECF244321}">
                <p14:modId xmlns:p14="http://schemas.microsoft.com/office/powerpoint/2010/main" val="1405277834"/>
              </p:ext>
            </p:extLst>
          </p:nvPr>
        </p:nvGraphicFramePr>
        <p:xfrm>
          <a:off x="406400" y="2180725"/>
          <a:ext cx="11572239" cy="3898328"/>
        </p:xfrm>
        <a:graphic>
          <a:graphicData uri="http://schemas.openxmlformats.org/drawingml/2006/table">
            <a:tbl>
              <a:tblPr bandRow="1">
                <a:tableStyleId>{5C22544A-7EE6-4342-B048-85BDC9FD1C3A}</a:tableStyleId>
              </a:tblPr>
              <a:tblGrid>
                <a:gridCol w="2651342">
                  <a:extLst>
                    <a:ext uri="{9D8B030D-6E8A-4147-A177-3AD203B41FA5}">
                      <a16:colId xmlns:a16="http://schemas.microsoft.com/office/drawing/2014/main" val="302008464"/>
                    </a:ext>
                  </a:extLst>
                </a:gridCol>
                <a:gridCol w="1107091">
                  <a:extLst>
                    <a:ext uri="{9D8B030D-6E8A-4147-A177-3AD203B41FA5}">
                      <a16:colId xmlns:a16="http://schemas.microsoft.com/office/drawing/2014/main" val="443043888"/>
                    </a:ext>
                  </a:extLst>
                </a:gridCol>
                <a:gridCol w="3878708">
                  <a:extLst>
                    <a:ext uri="{9D8B030D-6E8A-4147-A177-3AD203B41FA5}">
                      <a16:colId xmlns:a16="http://schemas.microsoft.com/office/drawing/2014/main" val="1239998262"/>
                    </a:ext>
                  </a:extLst>
                </a:gridCol>
                <a:gridCol w="1951777">
                  <a:extLst>
                    <a:ext uri="{9D8B030D-6E8A-4147-A177-3AD203B41FA5}">
                      <a16:colId xmlns:a16="http://schemas.microsoft.com/office/drawing/2014/main" val="4142031573"/>
                    </a:ext>
                  </a:extLst>
                </a:gridCol>
                <a:gridCol w="1983321">
                  <a:extLst>
                    <a:ext uri="{9D8B030D-6E8A-4147-A177-3AD203B41FA5}">
                      <a16:colId xmlns:a16="http://schemas.microsoft.com/office/drawing/2014/main" val="3323256179"/>
                    </a:ext>
                  </a:extLst>
                </a:gridCol>
              </a:tblGrid>
              <a:tr h="3898328">
                <a:tc>
                  <a:txBody>
                    <a:bodyPr/>
                    <a:lstStyle/>
                    <a:p>
                      <a:pPr marL="0" indent="0">
                        <a:buFont typeface="Arial" panose="020B0604020202020204" pitchFamily="34" charset="0"/>
                        <a:buNone/>
                      </a:pPr>
                      <a:endParaRPr lang="en-US" sz="1050" dirty="0"/>
                    </a:p>
                    <a:p>
                      <a:pPr marL="0" indent="0">
                        <a:buFont typeface="Arial" panose="020B0604020202020204" pitchFamily="34" charset="0"/>
                        <a:buNone/>
                      </a:pPr>
                      <a:endParaRPr lang="en-US" sz="1050" b="0" dirty="0"/>
                    </a:p>
                    <a:p>
                      <a:pPr marL="0" indent="0">
                        <a:buFont typeface="Arial" panose="020B0604020202020204" pitchFamily="34" charset="0"/>
                        <a:buNone/>
                      </a:pPr>
                      <a:endParaRPr lang="en-US" sz="1050" b="0" dirty="0"/>
                    </a:p>
                  </a:txBody>
                  <a:tcPr>
                    <a:solidFill>
                      <a:srgbClr val="ECECEC"/>
                    </a:solidFill>
                  </a:tcPr>
                </a:tc>
                <a:tc>
                  <a:txBody>
                    <a:bodyPr/>
                    <a:lstStyle/>
                    <a:p>
                      <a:pPr marL="0" indent="0" algn="ctr">
                        <a:buFont typeface="Arial" panose="020B0604020202020204" pitchFamily="34" charset="0"/>
                        <a:buNone/>
                      </a:pPr>
                      <a:endParaRPr lang="en-US" sz="1050" dirty="0">
                        <a:latin typeface="+mn-lt"/>
                      </a:endParaRPr>
                    </a:p>
                  </a:txBody>
                  <a:tcPr>
                    <a:solidFill>
                      <a:srgbClr val="ECECEC"/>
                    </a:solidFill>
                  </a:tcPr>
                </a:tc>
                <a:tc>
                  <a:txBody>
                    <a:bodyPr/>
                    <a:lstStyle/>
                    <a:p>
                      <a:pPr marL="0" indent="0">
                        <a:buFont typeface="Arial" panose="020B0604020202020204" pitchFamily="34" charset="0"/>
                        <a:buNone/>
                      </a:pPr>
                      <a:endParaRPr lang="en-US" sz="1050" dirty="0"/>
                    </a:p>
                    <a:p>
                      <a:pPr marL="0" lvl="0" indent="0">
                        <a:buFont typeface="Arial" panose="020B0604020202020204" pitchFamily="34" charset="0"/>
                        <a:buNone/>
                      </a:pPr>
                      <a:endParaRPr lang="en-US" sz="900" b="0" i="1" u="none" strike="noStrike" noProof="0" dirty="0">
                        <a:solidFill>
                          <a:srgbClr val="000000"/>
                        </a:solidFill>
                        <a:latin typeface="Aptos"/>
                      </a:endParaRPr>
                    </a:p>
                  </a:txBody>
                  <a:tcPr>
                    <a:solidFill>
                      <a:srgbClr val="ECECEC"/>
                    </a:solidFill>
                  </a:tcPr>
                </a:tc>
                <a:tc>
                  <a:txBody>
                    <a:bodyPr/>
                    <a:lstStyle/>
                    <a:p>
                      <a:pPr marL="0" indent="0">
                        <a:buNone/>
                      </a:pPr>
                      <a:endParaRPr lang="en-US" sz="1050" dirty="0"/>
                    </a:p>
                  </a:txBody>
                  <a:tcPr>
                    <a:solidFill>
                      <a:srgbClr val="ECECEC"/>
                    </a:solidFill>
                  </a:tcPr>
                </a:tc>
                <a:tc>
                  <a:txBody>
                    <a:bodyPr/>
                    <a:lstStyle/>
                    <a:p>
                      <a:pPr marL="0" indent="0">
                        <a:buNone/>
                      </a:pPr>
                      <a:endParaRPr lang="en-US" sz="1050" dirty="0"/>
                    </a:p>
                  </a:txBody>
                  <a:tcPr>
                    <a:solidFill>
                      <a:srgbClr val="ECECEC"/>
                    </a:solidFill>
                  </a:tcPr>
                </a:tc>
                <a:extLst>
                  <a:ext uri="{0D108BD9-81ED-4DB2-BD59-A6C34878D82A}">
                    <a16:rowId xmlns:a16="http://schemas.microsoft.com/office/drawing/2014/main" val="3871461783"/>
                  </a:ext>
                </a:extLst>
              </a:tr>
            </a:tbl>
          </a:graphicData>
        </a:graphic>
      </p:graphicFrame>
      <p:sp>
        <p:nvSpPr>
          <p:cNvPr id="14" name="TextBox 13">
            <a:extLst>
              <a:ext uri="{FF2B5EF4-FFF2-40B4-BE49-F238E27FC236}">
                <a16:creationId xmlns:a16="http://schemas.microsoft.com/office/drawing/2014/main" id="{77763B0D-4969-CFCB-50EC-6B0CDF3DFA01}"/>
              </a:ext>
            </a:extLst>
          </p:cNvPr>
          <p:cNvSpPr txBox="1"/>
          <p:nvPr/>
        </p:nvSpPr>
        <p:spPr>
          <a:xfrm>
            <a:off x="1756594" y="724324"/>
            <a:ext cx="10222045" cy="738664"/>
          </a:xfrm>
          <a:prstGeom prst="rect">
            <a:avLst/>
          </a:prstGeom>
          <a:solidFill>
            <a:schemeClr val="bg1">
              <a:lumMod val="95000"/>
            </a:schemeClr>
          </a:solidFill>
        </p:spPr>
        <p:txBody>
          <a:bodyPr wrap="square" rtlCol="0">
            <a:spAutoFit/>
          </a:bodyPr>
          <a:lstStyle/>
          <a:p>
            <a:r>
              <a:rPr sz="1050" b="0"/>
              <a:t>Profesional berpengalaman lebih dari 10 tahun di bidang manajemen digital dan strategi bisnis di PT Telkom Indonesia, dengan posisi terakhir sebagai Deputy Executive General Manager Digital Product. Memiliki keahlian kuat dalam strategi bisnis, inovasi, dan pengembangan kapabilitas organisasi, serta terbukti mampu mengelola transformasi digital dan kemitraan strategis. Memiliki visi jangka panjang yang jelas, kemampuan analisis mendalam, dan kelincahan dalam merespons perubahan dinamis.</a:t>
            </a:r>
          </a:p>
          <a:p/>
          <a:p/>
          <a:p/>
        </p:txBody>
      </p:sp>
      <p:sp>
        <p:nvSpPr>
          <p:cNvPr id="20" name="TextBox 19">
            <a:extLst>
              <a:ext uri="{FF2B5EF4-FFF2-40B4-BE49-F238E27FC236}">
                <a16:creationId xmlns:a16="http://schemas.microsoft.com/office/drawing/2014/main" id="{034ECF2D-FE78-75AD-A4DD-36744EA8E7F9}"/>
              </a:ext>
            </a:extLst>
          </p:cNvPr>
          <p:cNvSpPr txBox="1"/>
          <p:nvPr/>
        </p:nvSpPr>
        <p:spPr>
          <a:xfrm>
            <a:off x="1756595" y="153444"/>
            <a:ext cx="10044062" cy="323165"/>
          </a:xfrm>
          <a:prstGeom prst="rect">
            <a:avLst/>
          </a:prstGeom>
          <a:noFill/>
        </p:spPr>
        <p:txBody>
          <a:bodyPr wrap="square" lIns="91440" tIns="45720" rIns="91440" bIns="45720" anchor="t">
            <a:spAutoFit/>
          </a:bodyPr>
          <a:lstStyle/>
          <a:p>
            <a:r>
              <a:rPr sz="1500" b="1"/>
              <a:t>John Doe / NIK 872320</a:t>
            </a:r>
          </a:p>
        </p:txBody>
      </p:sp>
      <p:sp>
        <p:nvSpPr>
          <p:cNvPr id="33" name="TextBox 32">
            <a:extLst>
              <a:ext uri="{FF2B5EF4-FFF2-40B4-BE49-F238E27FC236}">
                <a16:creationId xmlns:a16="http://schemas.microsoft.com/office/drawing/2014/main" id="{9CDC27B4-D077-7FCE-B618-89E9D6762F7D}"/>
              </a:ext>
            </a:extLst>
          </p:cNvPr>
          <p:cNvSpPr txBox="1"/>
          <p:nvPr/>
        </p:nvSpPr>
        <p:spPr>
          <a:xfrm>
            <a:off x="1756594" y="1535395"/>
            <a:ext cx="10222046" cy="261610"/>
          </a:xfrm>
          <a:prstGeom prst="rect">
            <a:avLst/>
          </a:prstGeom>
          <a:solidFill>
            <a:srgbClr val="51B788"/>
          </a:solidFill>
        </p:spPr>
        <p:txBody>
          <a:bodyPr wrap="square" rtlCol="0">
            <a:spAutoFit/>
          </a:bodyPr>
          <a:lstStyle/>
          <a:p>
            <a:r>
              <a:rPr sz="1050" b="0"/>
              <a:t>S2 Manajemen Internasional, University Of Canberra</a:t>
            </a:r>
          </a:p>
        </p:txBody>
      </p:sp>
      <p:sp>
        <p:nvSpPr>
          <p:cNvPr id="41" name="Rectangle: Diagonal Corners Snipped 40">
            <a:extLst>
              <a:ext uri="{FF2B5EF4-FFF2-40B4-BE49-F238E27FC236}">
                <a16:creationId xmlns:a16="http://schemas.microsoft.com/office/drawing/2014/main" id="{C0ED5297-A12E-EA10-D456-AA0B246F2C6E}"/>
              </a:ext>
            </a:extLst>
          </p:cNvPr>
          <p:cNvSpPr/>
          <p:nvPr/>
        </p:nvSpPr>
        <p:spPr>
          <a:xfrm>
            <a:off x="8219514" y="5676659"/>
            <a:ext cx="1080000" cy="150622"/>
          </a:xfrm>
          <a:prstGeom prst="snip2DiagRect">
            <a:avLst/>
          </a:prstGeom>
          <a:solidFill>
            <a:srgbClr val="1B41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Qualified</a:t>
            </a:r>
          </a:p>
        </p:txBody>
      </p:sp>
      <p:sp>
        <p:nvSpPr>
          <p:cNvPr id="42" name="TextBox 41">
            <a:extLst>
              <a:ext uri="{FF2B5EF4-FFF2-40B4-BE49-F238E27FC236}">
                <a16:creationId xmlns:a16="http://schemas.microsoft.com/office/drawing/2014/main" id="{B2E77681-EAFB-A84E-F5F8-C383C2EEB93D}"/>
              </a:ext>
            </a:extLst>
          </p:cNvPr>
          <p:cNvSpPr txBox="1"/>
          <p:nvPr/>
        </p:nvSpPr>
        <p:spPr>
          <a:xfrm>
            <a:off x="8135856" y="2394166"/>
            <a:ext cx="1879981" cy="2708434"/>
          </a:xfrm>
          <a:prstGeom prst="rect">
            <a:avLst/>
          </a:prstGeom>
          <a:noFill/>
        </p:spPr>
        <p:txBody>
          <a:bodyPr wrap="square" rtlCol="0">
            <a:spAutoFit/>
          </a:bodyPr>
          <a:lstStyle/>
          <a:p>
            <a:r>
              <a:rPr lang="en-US" sz="1000" dirty="0"/>
              <a:t>1.   Digital Leadership</a:t>
            </a:r>
          </a:p>
          <a:p>
            <a:r>
              <a:rPr lang="en-US" sz="700" dirty="0"/>
              <a:t>{{chart digital leadership}}</a:t>
            </a:r>
            <a:endParaRPr lang="en-US" sz="1000" dirty="0"/>
          </a:p>
          <a:p>
            <a:r>
              <a:rPr lang="en-US" sz="1000" dirty="0"/>
              <a:t>2.    Global Business Savvy</a:t>
            </a:r>
          </a:p>
          <a:p>
            <a:r>
              <a:rPr lang="en-US" sz="700" dirty="0"/>
              <a:t>{{chart global business savvy}}</a:t>
            </a:r>
            <a:endParaRPr lang="en-US" sz="1000" dirty="0"/>
          </a:p>
          <a:p>
            <a:r>
              <a:rPr lang="en-US" sz="1000" dirty="0"/>
              <a:t>3.   Customer Focus</a:t>
            </a:r>
          </a:p>
          <a:p>
            <a:r>
              <a:rPr lang="en-US" sz="700" dirty="0"/>
              <a:t>{{chart customer focus}}</a:t>
            </a:r>
            <a:endParaRPr lang="en-US" sz="1000" dirty="0"/>
          </a:p>
          <a:p>
            <a:r>
              <a:rPr lang="en-US" sz="1000" dirty="0"/>
              <a:t>4.   Building Strat. Partnership</a:t>
            </a:r>
          </a:p>
          <a:p>
            <a:r>
              <a:rPr lang="en-US" sz="700" dirty="0"/>
              <a:t>{{chart building </a:t>
            </a:r>
            <a:r>
              <a:rPr lang="en-US" sz="700" dirty="0" err="1"/>
              <a:t>strat</a:t>
            </a:r>
            <a:r>
              <a:rPr lang="en-US" sz="700" dirty="0"/>
              <a:t>. partnership}}</a:t>
            </a:r>
            <a:endParaRPr lang="en-US" sz="1000" dirty="0"/>
          </a:p>
          <a:p>
            <a:r>
              <a:rPr lang="en-US" sz="1000" dirty="0"/>
              <a:t>5.   Strategic Orientation</a:t>
            </a:r>
          </a:p>
          <a:p>
            <a:r>
              <a:rPr lang="en-US" sz="700" dirty="0"/>
              <a:t>{{chart strategic orientation}}</a:t>
            </a:r>
            <a:endParaRPr lang="en-US" sz="1000" dirty="0"/>
          </a:p>
          <a:p>
            <a:r>
              <a:rPr lang="en-US" sz="1000" dirty="0"/>
              <a:t>6.   Driving Execution</a:t>
            </a:r>
          </a:p>
          <a:p>
            <a:r>
              <a:rPr lang="en-US" sz="700" dirty="0"/>
              <a:t>{{chart driving execution}}</a:t>
            </a:r>
            <a:endParaRPr lang="en-US" sz="1000" dirty="0"/>
          </a:p>
          <a:p>
            <a:r>
              <a:rPr lang="en-US" sz="1000" dirty="0"/>
              <a:t>7.   Driving Innovation</a:t>
            </a:r>
          </a:p>
          <a:p>
            <a:r>
              <a:rPr lang="en-US" sz="700" dirty="0"/>
              <a:t>{{chart driving innovation}}</a:t>
            </a:r>
            <a:endParaRPr lang="en-US" sz="1000" dirty="0"/>
          </a:p>
          <a:p>
            <a:r>
              <a:rPr lang="en-US" sz="1000" dirty="0"/>
              <a:t>8.   Developing Org. Cap.</a:t>
            </a:r>
          </a:p>
          <a:p>
            <a:r>
              <a:rPr lang="en-US" sz="700" dirty="0"/>
              <a:t>{{chart developing org. cap}}</a:t>
            </a:r>
            <a:endParaRPr lang="en-US" sz="1000" dirty="0"/>
          </a:p>
          <a:p>
            <a:r>
              <a:rPr lang="en-US" sz="1000" dirty="0"/>
              <a:t>9.   Leading Change</a:t>
            </a:r>
          </a:p>
          <a:p>
            <a:r>
              <a:rPr lang="en-US" sz="700" dirty="0"/>
              <a:t>{{chart leading change}}</a:t>
            </a:r>
            <a:endParaRPr lang="en-US" sz="1000" dirty="0"/>
          </a:p>
          <a:p>
            <a:pPr marL="228600" indent="-228600">
              <a:buAutoNum type="arabicPeriod" startAt="10"/>
            </a:pPr>
            <a:r>
              <a:rPr lang="en-US" sz="1000" dirty="0"/>
              <a:t>Managing Diversity</a:t>
            </a:r>
          </a:p>
          <a:p>
            <a:r>
              <a:rPr lang="en-US" sz="700" dirty="0"/>
              <a:t>{{chart managing diversity}}</a:t>
            </a:r>
          </a:p>
        </p:txBody>
      </p:sp>
      <p:sp>
        <p:nvSpPr>
          <p:cNvPr id="43" name="TextBox 42">
            <a:extLst>
              <a:ext uri="{FF2B5EF4-FFF2-40B4-BE49-F238E27FC236}">
                <a16:creationId xmlns:a16="http://schemas.microsoft.com/office/drawing/2014/main" id="{6E679BF7-DED3-9E2D-8FAA-5FFE82A608B4}"/>
              </a:ext>
            </a:extLst>
          </p:cNvPr>
          <p:cNvSpPr txBox="1"/>
          <p:nvPr/>
        </p:nvSpPr>
        <p:spPr>
          <a:xfrm>
            <a:off x="10112042" y="5611268"/>
            <a:ext cx="1593706" cy="461665"/>
          </a:xfrm>
          <a:prstGeom prst="rect">
            <a:avLst/>
          </a:prstGeom>
          <a:noFill/>
        </p:spPr>
        <p:txBody>
          <a:bodyPr wrap="none" rtlCol="0">
            <a:spAutoFit/>
          </a:bodyPr>
          <a:lstStyle/>
          <a:p>
            <a:r>
              <a:rPr lang="en-US" sz="800" i="1" dirty="0">
                <a:latin typeface="Arial" panose="020B0604020202020204" pitchFamily="34" charset="0"/>
                <a:cs typeface="Arial" panose="020B0604020202020204" pitchFamily="34" charset="0"/>
              </a:rPr>
              <a:t>Source: </a:t>
            </a:r>
            <a:br>
              <a:rPr lang="en-US" sz="800" i="1" dirty="0">
                <a:latin typeface="Arial" panose="020B0604020202020204" pitchFamily="34" charset="0"/>
                <a:cs typeface="Arial" panose="020B0604020202020204" pitchFamily="34" charset="0"/>
              </a:rPr>
            </a:br>
            <a:r>
              <a:rPr lang="en-US" sz="800" i="1" dirty="0">
                <a:latin typeface="Arial" panose="020B0604020202020204" pitchFamily="34" charset="0"/>
                <a:cs typeface="Arial" panose="020B0604020202020204" pitchFamily="34" charset="0"/>
              </a:rPr>
              <a:t>Assessment Job Target Dir AP</a:t>
            </a:r>
            <a:br>
              <a:rPr lang="en-US" sz="800" i="1" dirty="0">
                <a:latin typeface="Arial" panose="020B0604020202020204" pitchFamily="34" charset="0"/>
                <a:cs typeface="Arial" panose="020B0604020202020204" pitchFamily="34" charset="0"/>
              </a:rPr>
            </a:br>
            <a:r>
              <a:rPr lang="en-US" sz="800" i="1" dirty="0">
                <a:latin typeface="Arial" panose="020B0604020202020204" pitchFamily="34" charset="0"/>
                <a:cs typeface="Arial" panose="020B0604020202020204" pitchFamily="34" charset="0"/>
              </a:rPr>
              <a:t>ACI (30 Mei 2024)</a:t>
            </a:r>
          </a:p>
        </p:txBody>
      </p:sp>
      <p:sp>
        <p:nvSpPr>
          <p:cNvPr id="46" name="TextBox 45">
            <a:extLst>
              <a:ext uri="{FF2B5EF4-FFF2-40B4-BE49-F238E27FC236}">
                <a16:creationId xmlns:a16="http://schemas.microsoft.com/office/drawing/2014/main" id="{0EC5428A-119E-7C69-0B3C-4647D155E3AA}"/>
              </a:ext>
            </a:extLst>
          </p:cNvPr>
          <p:cNvSpPr txBox="1"/>
          <p:nvPr/>
        </p:nvSpPr>
        <p:spPr>
          <a:xfrm>
            <a:off x="10104676" y="2382894"/>
            <a:ext cx="1785124" cy="1631216"/>
          </a:xfrm>
          <a:prstGeom prst="rect">
            <a:avLst/>
          </a:prstGeom>
          <a:noFill/>
        </p:spPr>
        <p:txBody>
          <a:bodyPr wrap="square" rtlCol="0">
            <a:spAutoFit/>
          </a:bodyPr>
          <a:lstStyle/>
          <a:p>
            <a:r>
              <a:rPr lang="en-US" sz="1000" dirty="0"/>
              <a:t>1.   Financial</a:t>
            </a:r>
          </a:p>
          <a:p>
            <a:r>
              <a:rPr lang="en-US" sz="1000" dirty="0"/>
              <a:t>{{chart financial}}</a:t>
            </a:r>
          </a:p>
          <a:p>
            <a:r>
              <a:rPr lang="en-US" sz="1000" dirty="0"/>
              <a:t>2.   Commercial</a:t>
            </a:r>
          </a:p>
          <a:p>
            <a:r>
              <a:rPr lang="en-US" sz="1000" dirty="0"/>
              <a:t>{{chart commercial}}</a:t>
            </a:r>
          </a:p>
          <a:p>
            <a:r>
              <a:rPr lang="en-US" sz="1000" dirty="0"/>
              <a:t>3.   People</a:t>
            </a:r>
          </a:p>
          <a:p>
            <a:r>
              <a:rPr lang="en-US" sz="1000" dirty="0"/>
              <a:t>{{chart people}}</a:t>
            </a:r>
          </a:p>
          <a:p>
            <a:r>
              <a:rPr lang="en-US" sz="1000" dirty="0"/>
              <a:t>4.   Operation</a:t>
            </a:r>
          </a:p>
          <a:p>
            <a:r>
              <a:rPr lang="en-US" sz="1000" dirty="0"/>
              <a:t>{{chart operation}}</a:t>
            </a:r>
          </a:p>
          <a:p>
            <a:r>
              <a:rPr lang="en-US" sz="1000" dirty="0"/>
              <a:t>5.   Technology</a:t>
            </a:r>
          </a:p>
          <a:p>
            <a:r>
              <a:rPr lang="en-US" sz="1000" dirty="0"/>
              <a:t>{{chart technology}}</a:t>
            </a:r>
          </a:p>
        </p:txBody>
      </p:sp>
      <p:sp>
        <p:nvSpPr>
          <p:cNvPr id="52" name="TextBox 51">
            <a:extLst>
              <a:ext uri="{FF2B5EF4-FFF2-40B4-BE49-F238E27FC236}">
                <a16:creationId xmlns:a16="http://schemas.microsoft.com/office/drawing/2014/main" id="{172CACD6-DA3F-C127-A71B-591D2B894425}"/>
              </a:ext>
            </a:extLst>
          </p:cNvPr>
          <p:cNvSpPr txBox="1"/>
          <p:nvPr/>
        </p:nvSpPr>
        <p:spPr>
          <a:xfrm>
            <a:off x="10104675" y="2192373"/>
            <a:ext cx="1879981" cy="261610"/>
          </a:xfrm>
          <a:prstGeom prst="rect">
            <a:avLst/>
          </a:prstGeom>
          <a:noFill/>
        </p:spPr>
        <p:txBody>
          <a:bodyPr wrap="square">
            <a:spAutoFit/>
          </a:bodyPr>
          <a:lstStyle/>
          <a:p>
            <a:pPr marL="0" indent="0">
              <a:buFont typeface="Arial" panose="020B0604020202020204" pitchFamily="34" charset="0"/>
              <a:buNone/>
            </a:pPr>
            <a:r>
              <a:rPr lang="en-US" sz="1050" b="1" dirty="0"/>
              <a:t>Professional Qualification</a:t>
            </a:r>
          </a:p>
        </p:txBody>
      </p:sp>
      <p:sp>
        <p:nvSpPr>
          <p:cNvPr id="53" name="TextBox 52">
            <a:extLst>
              <a:ext uri="{FF2B5EF4-FFF2-40B4-BE49-F238E27FC236}">
                <a16:creationId xmlns:a16="http://schemas.microsoft.com/office/drawing/2014/main" id="{C3E2B2BF-A412-493B-0C7C-9B1F398A5A50}"/>
              </a:ext>
            </a:extLst>
          </p:cNvPr>
          <p:cNvSpPr txBox="1"/>
          <p:nvPr/>
        </p:nvSpPr>
        <p:spPr>
          <a:xfrm>
            <a:off x="8137716" y="2194693"/>
            <a:ext cx="1879981" cy="261610"/>
          </a:xfrm>
          <a:prstGeom prst="rect">
            <a:avLst/>
          </a:prstGeom>
          <a:noFill/>
        </p:spPr>
        <p:txBody>
          <a:bodyPr wrap="square">
            <a:spAutoFit/>
          </a:bodyPr>
          <a:lstStyle/>
          <a:p>
            <a:pPr marL="0" indent="0">
              <a:buFont typeface="Arial" panose="020B0604020202020204" pitchFamily="34" charset="0"/>
              <a:buNone/>
            </a:pPr>
            <a:r>
              <a:rPr lang="en-US" sz="1050" b="1" dirty="0"/>
              <a:t>Leadership Competency</a:t>
            </a:r>
          </a:p>
        </p:txBody>
      </p:sp>
      <p:grpSp>
        <p:nvGrpSpPr>
          <p:cNvPr id="57" name="Group 56">
            <a:extLst>
              <a:ext uri="{FF2B5EF4-FFF2-40B4-BE49-F238E27FC236}">
                <a16:creationId xmlns:a16="http://schemas.microsoft.com/office/drawing/2014/main" id="{87152ACA-0FCB-6487-774F-4D3337D6C7F4}"/>
              </a:ext>
            </a:extLst>
          </p:cNvPr>
          <p:cNvGrpSpPr/>
          <p:nvPr/>
        </p:nvGrpSpPr>
        <p:grpSpPr>
          <a:xfrm>
            <a:off x="406400" y="431089"/>
            <a:ext cx="1240549" cy="1240549"/>
            <a:chOff x="-743578" y="5336623"/>
            <a:chExt cx="1243191" cy="1234525"/>
          </a:xfrm>
        </p:grpSpPr>
        <p:sp>
          <p:nvSpPr>
            <p:cNvPr id="56" name="Oval 55">
              <a:extLst>
                <a:ext uri="{FF2B5EF4-FFF2-40B4-BE49-F238E27FC236}">
                  <a16:creationId xmlns:a16="http://schemas.microsoft.com/office/drawing/2014/main" id="{6D990B80-AC49-E416-C80F-037B8835D6AA}"/>
                </a:ext>
              </a:extLst>
            </p:cNvPr>
            <p:cNvSpPr/>
            <p:nvPr/>
          </p:nvSpPr>
          <p:spPr>
            <a:xfrm>
              <a:off x="-743578" y="5337685"/>
              <a:ext cx="1229830" cy="1229830"/>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descr="Businessman crossed hands">
              <a:extLst>
                <a:ext uri="{FF2B5EF4-FFF2-40B4-BE49-F238E27FC236}">
                  <a16:creationId xmlns:a16="http://schemas.microsoft.com/office/drawing/2014/main" id="{A48D97EA-41A1-5EE7-26D4-410B890E2EF9}"/>
                </a:ext>
              </a:extLst>
            </p:cNvPr>
            <p:cNvPicPr>
              <a:picLocks noChangeAspect="1"/>
            </p:cNvPicPr>
            <p:nvPr/>
          </p:nvPicPr>
          <p:blipFill rotWithShape="1">
            <a:blip r:embed="rId3">
              <a:extLst>
                <a:ext uri="{28A0092B-C50C-407E-A947-70E740481C1C}">
                  <a14:useLocalDpi xmlns:a14="http://schemas.microsoft.com/office/drawing/2010/main" val="0"/>
                </a:ext>
              </a:extLst>
            </a:blip>
            <a:srcRect l="2913" t="-1186" r="35309" b="78711"/>
            <a:stretch>
              <a:fillRect/>
            </a:stretch>
          </p:blipFill>
          <p:spPr>
            <a:xfrm>
              <a:off x="-734912" y="5336623"/>
              <a:ext cx="1234525" cy="1234525"/>
            </a:xfrm>
            <a:prstGeom prst="ellipse">
              <a:avLst/>
            </a:prstGeom>
          </p:spPr>
        </p:pic>
      </p:grpSp>
      <p:sp>
        <p:nvSpPr>
          <p:cNvPr id="6" name="TextBox 5">
            <a:extLst>
              <a:ext uri="{FF2B5EF4-FFF2-40B4-BE49-F238E27FC236}">
                <a16:creationId xmlns:a16="http://schemas.microsoft.com/office/drawing/2014/main" id="{5F39DB66-CBF3-29E0-A2C3-899A9BB9C2FE}"/>
              </a:ext>
            </a:extLst>
          </p:cNvPr>
          <p:cNvSpPr txBox="1"/>
          <p:nvPr/>
        </p:nvSpPr>
        <p:spPr>
          <a:xfrm>
            <a:off x="4227791" y="2155916"/>
            <a:ext cx="3806279" cy="253916"/>
          </a:xfrm>
          <a:prstGeom prst="rect">
            <a:avLst/>
          </a:prstGeom>
          <a:noFill/>
        </p:spPr>
        <p:txBody>
          <a:bodyPr wrap="square" rtlCol="0">
            <a:spAutoFit/>
          </a:bodyPr>
          <a:lstStyle/>
          <a:p>
            <a:r>
              <a:rPr sz="1050" b="0"/>
              <a:t>Deputy Executive General Manager Digital Product</a:t>
            </a:r>
          </a:p>
          <a:p>
            <a:r>
              <a:rPr sz="1050" b="0"/>
              <a:t>PT Telkom Indonesia</a:t>
            </a:r>
          </a:p>
          <a:p>
            <a:r>
              <a:rPr sz="1050" b="0"/>
              <a:t>2025 – Saat ini</a:t>
            </a:r>
          </a:p>
          <a:p/>
          <a:p>
            <a:r>
              <a:rPr sz="1050" b="0"/>
              <a:t>Deputy Executive Vice President Customer Experience &amp; Digitization</a:t>
            </a:r>
          </a:p>
          <a:p>
            <a:r>
              <a:rPr sz="1050" b="0"/>
              <a:t>PT Telkom Indonesia</a:t>
            </a:r>
          </a:p>
          <a:p>
            <a:r>
              <a:rPr sz="1050" b="0"/>
              <a:t>2023 – 2025</a:t>
            </a:r>
          </a:p>
          <a:p/>
          <a:p>
            <a:r>
              <a:rPr sz="1050" b="0"/>
              <a:t>Senior Manager Partnership Operation Management</a:t>
            </a:r>
          </a:p>
          <a:p>
            <a:r>
              <a:rPr sz="1050" b="0"/>
              <a:t>PT Telkom Indonesia</a:t>
            </a:r>
          </a:p>
          <a:p>
            <a:r>
              <a:rPr sz="1050" b="0"/>
              <a:t>2021 – 2023</a:t>
            </a:r>
          </a:p>
          <a:p/>
          <a:p>
            <a:r>
              <a:rPr sz="1050" b="0"/>
              <a:t>Senior Manager Amoeba Management</a:t>
            </a:r>
          </a:p>
          <a:p>
            <a:r>
              <a:rPr sz="1050" b="0"/>
              <a:t>PT Telkom Indonesia</a:t>
            </a:r>
          </a:p>
          <a:p>
            <a:r>
              <a:rPr sz="1050" b="0"/>
              <a:t>2020 – 2020</a:t>
            </a:r>
          </a:p>
        </p:txBody>
      </p:sp>
      <p:sp>
        <p:nvSpPr>
          <p:cNvPr id="8" name="TextBox 7">
            <a:extLst>
              <a:ext uri="{FF2B5EF4-FFF2-40B4-BE49-F238E27FC236}">
                <a16:creationId xmlns:a16="http://schemas.microsoft.com/office/drawing/2014/main" id="{13B460D9-01FA-AA56-C65B-D5B14398F26D}"/>
              </a:ext>
            </a:extLst>
          </p:cNvPr>
          <p:cNvSpPr txBox="1"/>
          <p:nvPr/>
        </p:nvSpPr>
        <p:spPr>
          <a:xfrm>
            <a:off x="4227791" y="4734507"/>
            <a:ext cx="3689575" cy="253916"/>
          </a:xfrm>
          <a:prstGeom prst="rect">
            <a:avLst/>
          </a:prstGeom>
          <a:noFill/>
        </p:spPr>
        <p:txBody>
          <a:bodyPr wrap="square" rtlCol="0">
            <a:spAutoFit/>
          </a:bodyPr>
          <a:lstStyle/>
          <a:p>
            <a:r>
              <a:rPr lang="en-US" sz="1050" b="1" dirty="0"/>
              <a:t>Great impact for business:</a:t>
            </a:r>
          </a:p>
        </p:txBody>
      </p:sp>
      <p:sp>
        <p:nvSpPr>
          <p:cNvPr id="9" name="TextBox 8">
            <a:extLst>
              <a:ext uri="{FF2B5EF4-FFF2-40B4-BE49-F238E27FC236}">
                <a16:creationId xmlns:a16="http://schemas.microsoft.com/office/drawing/2014/main" id="{47EF4EAB-C578-78A4-C5BF-8A635878C714}"/>
              </a:ext>
            </a:extLst>
          </p:cNvPr>
          <p:cNvSpPr txBox="1"/>
          <p:nvPr/>
        </p:nvSpPr>
        <p:spPr>
          <a:xfrm>
            <a:off x="4279085" y="5846360"/>
            <a:ext cx="1879981" cy="230832"/>
          </a:xfrm>
          <a:prstGeom prst="rect">
            <a:avLst/>
          </a:prstGeom>
          <a:noFill/>
        </p:spPr>
        <p:txBody>
          <a:bodyPr wrap="square" rtlCol="0">
            <a:spAutoFit/>
          </a:bodyPr>
          <a:lstStyle/>
          <a:p>
            <a:pPr lvl="0"/>
            <a:r>
              <a:rPr lang="en-US" sz="900" i="1" dirty="0">
                <a:solidFill>
                  <a:srgbClr val="000000"/>
                </a:solidFill>
              </a:rPr>
              <a:t>Source: CV</a:t>
            </a:r>
            <a:endParaRPr lang="en-US" sz="900" dirty="0"/>
          </a:p>
        </p:txBody>
      </p:sp>
      <p:sp>
        <p:nvSpPr>
          <p:cNvPr id="10" name="TextBox 9">
            <a:extLst>
              <a:ext uri="{FF2B5EF4-FFF2-40B4-BE49-F238E27FC236}">
                <a16:creationId xmlns:a16="http://schemas.microsoft.com/office/drawing/2014/main" id="{DCB15940-31EB-7711-718F-CDC8CD12993A}"/>
              </a:ext>
            </a:extLst>
          </p:cNvPr>
          <p:cNvSpPr txBox="1"/>
          <p:nvPr/>
        </p:nvSpPr>
        <p:spPr>
          <a:xfrm>
            <a:off x="3036703" y="2225868"/>
            <a:ext cx="1115262" cy="253916"/>
          </a:xfrm>
          <a:prstGeom prst="rect">
            <a:avLst/>
          </a:prstGeom>
          <a:noFill/>
        </p:spPr>
        <p:txBody>
          <a:bodyPr wrap="square" rtlCol="0">
            <a:spAutoFit/>
          </a:bodyPr>
          <a:lstStyle/>
          <a:p>
            <a:pPr algn="ctr"/>
            <a:r>
              <a:rPr lang="en-US" sz="1050" dirty="0"/>
              <a:t>{{performance}}</a:t>
            </a:r>
          </a:p>
        </p:txBody>
      </p:sp>
      <p:sp>
        <p:nvSpPr>
          <p:cNvPr id="11" name="TextBox 10">
            <a:extLst>
              <a:ext uri="{FF2B5EF4-FFF2-40B4-BE49-F238E27FC236}">
                <a16:creationId xmlns:a16="http://schemas.microsoft.com/office/drawing/2014/main" id="{084194F8-AD15-176E-E4EE-D26DDE73056B}"/>
              </a:ext>
            </a:extLst>
          </p:cNvPr>
          <p:cNvSpPr txBox="1"/>
          <p:nvPr/>
        </p:nvSpPr>
        <p:spPr>
          <a:xfrm>
            <a:off x="424061" y="5682080"/>
            <a:ext cx="2601491" cy="507831"/>
          </a:xfrm>
          <a:prstGeom prst="rect">
            <a:avLst/>
          </a:prstGeom>
          <a:noFill/>
        </p:spPr>
        <p:txBody>
          <a:bodyPr wrap="square" rtlCol="0">
            <a:spAutoFit/>
          </a:bodyPr>
          <a:lstStyle/>
          <a:p>
            <a:r>
              <a:rPr lang="en-US" sz="900" i="1" dirty="0">
                <a:solidFill>
                  <a:srgbClr val="000000"/>
                </a:solidFill>
              </a:rPr>
              <a:t>Source: CV, </a:t>
            </a:r>
            <a:r>
              <a:rPr lang="en-US" sz="900" i="1" dirty="0"/>
              <a:t>Source: CBA 2024, Profile Ingenium, History Dinas</a:t>
            </a:r>
          </a:p>
          <a:p>
            <a:pPr lvl="0"/>
            <a:endParaRPr lang="en-US" sz="900" dirty="0"/>
          </a:p>
        </p:txBody>
      </p:sp>
      <p:sp>
        <p:nvSpPr>
          <p:cNvPr id="12" name="TextBox 11">
            <a:extLst>
              <a:ext uri="{FF2B5EF4-FFF2-40B4-BE49-F238E27FC236}">
                <a16:creationId xmlns:a16="http://schemas.microsoft.com/office/drawing/2014/main" id="{30C99DFF-7773-EBDE-723A-E543DC217F7A}"/>
              </a:ext>
            </a:extLst>
          </p:cNvPr>
          <p:cNvSpPr txBox="1"/>
          <p:nvPr/>
        </p:nvSpPr>
        <p:spPr>
          <a:xfrm>
            <a:off x="415048" y="4959084"/>
            <a:ext cx="2621655" cy="253916"/>
          </a:xfrm>
          <a:prstGeom prst="rect">
            <a:avLst/>
          </a:prstGeom>
          <a:noFill/>
        </p:spPr>
        <p:txBody>
          <a:bodyPr wrap="square" rtlCol="0">
            <a:spAutoFit/>
          </a:bodyPr>
          <a:lstStyle/>
          <a:p>
            <a:r>
              <a:rPr lang="en-US" sz="1050" b="1" dirty="0"/>
              <a:t>Professional Certification</a:t>
            </a:r>
            <a:endParaRPr lang="en-US" sz="1050" dirty="0"/>
          </a:p>
        </p:txBody>
      </p:sp>
      <p:sp>
        <p:nvSpPr>
          <p:cNvPr id="15" name="TextBox 14">
            <a:extLst>
              <a:ext uri="{FF2B5EF4-FFF2-40B4-BE49-F238E27FC236}">
                <a16:creationId xmlns:a16="http://schemas.microsoft.com/office/drawing/2014/main" id="{28605D8F-384F-125F-724A-1B737ACFD585}"/>
              </a:ext>
            </a:extLst>
          </p:cNvPr>
          <p:cNvSpPr txBox="1"/>
          <p:nvPr/>
        </p:nvSpPr>
        <p:spPr>
          <a:xfrm>
            <a:off x="439375" y="2157575"/>
            <a:ext cx="2597327" cy="253916"/>
          </a:xfrm>
          <a:prstGeom prst="rect">
            <a:avLst/>
          </a:prstGeom>
          <a:noFill/>
        </p:spPr>
        <p:txBody>
          <a:bodyPr wrap="square">
            <a:spAutoFit/>
          </a:bodyPr>
          <a:lstStyle/>
          <a:p>
            <a:r>
              <a:rPr lang="en-US" sz="1050" b="1" dirty="0"/>
              <a:t>Competency</a:t>
            </a:r>
          </a:p>
        </p:txBody>
      </p:sp>
      <p:sp>
        <p:nvSpPr>
          <p:cNvPr id="16" name="TextBox 15">
            <a:extLst>
              <a:ext uri="{FF2B5EF4-FFF2-40B4-BE49-F238E27FC236}">
                <a16:creationId xmlns:a16="http://schemas.microsoft.com/office/drawing/2014/main" id="{47E52EC0-1B77-5F6B-F483-494BF988F3A4}"/>
              </a:ext>
            </a:extLst>
          </p:cNvPr>
          <p:cNvSpPr txBox="1"/>
          <p:nvPr/>
        </p:nvSpPr>
        <p:spPr>
          <a:xfrm>
            <a:off x="434356" y="2330990"/>
            <a:ext cx="2602348" cy="253916"/>
          </a:xfrm>
          <a:prstGeom prst="rect">
            <a:avLst/>
          </a:prstGeom>
          <a:noFill/>
        </p:spPr>
        <p:txBody>
          <a:bodyPr wrap="square" rtlCol="0">
            <a:spAutoFit/>
          </a:bodyPr>
          <a:lstStyle/>
          <a:p>
            <a:r>
              <a:rPr sz="1050" b="0"/>
              <a:t>• Kepekaan Bisnis &amp; Industri (Lvl. 3/5)</a:t>
            </a:r>
          </a:p>
          <a:p>
            <a:r>
              <a:rPr sz="1050" b="0"/>
              <a:t>• Manajemen Hubungan &amp; Keterlibatan Pelanggan (Lvl. 3/5)</a:t>
            </a:r>
          </a:p>
          <a:p>
            <a:r>
              <a:rPr sz="1050" b="0"/>
              <a:t>• Strategi Pemasaran (Lvl. 3/5)</a:t>
            </a:r>
          </a:p>
          <a:p>
            <a:r>
              <a:rPr sz="1050" b="0"/>
              <a:t>• Manajemen &amp; Optimalisasi Pengalaman Pelanggan (Lvl. 3/5)</a:t>
            </a:r>
          </a:p>
          <a:p>
            <a:r>
              <a:rPr sz="1050" b="0"/>
              <a:t>• Strategi &amp; Perencanaan Pengalaman Pelanggan (Lvl. 3/5)</a:t>
            </a:r>
          </a:p>
          <a:p>
            <a:r>
              <a:rPr sz="1050" b="0"/>
              <a:t>• Manajemen Kinerja Penjualan (Lvl. 3/5)</a:t>
            </a:r>
          </a:p>
          <a:p>
            <a:r>
              <a:rPr sz="1050" b="0"/>
              <a:t>• Manajemen Hubungan Pemangku Kepentingan (Lvl. 3/5)</a:t>
            </a:r>
          </a:p>
          <a:p>
            <a:r>
              <a:rPr sz="1050" b="0"/>
              <a:t>• Strategi &amp; Perencanaan Penjualan (Lvl. 3/5)</a:t>
            </a:r>
          </a:p>
          <a:p>
            <a:r>
              <a:rPr sz="1050" b="0"/>
              <a:t>• Manajemen Pasar B2B (Lvl. 2/5)</a:t>
            </a:r>
          </a:p>
          <a:p>
            <a:r>
              <a:rPr sz="1050" b="0"/>
              <a:t>• Manajemen Kategori (Lvl. 2/5)</a:t>
            </a:r>
          </a:p>
        </p:txBody>
      </p:sp>
      <p:sp>
        <p:nvSpPr>
          <p:cNvPr id="17" name="TextBox 16">
            <a:extLst>
              <a:ext uri="{FF2B5EF4-FFF2-40B4-BE49-F238E27FC236}">
                <a16:creationId xmlns:a16="http://schemas.microsoft.com/office/drawing/2014/main" id="{F45D2EE5-F5F0-304E-9A04-5B4506D10B85}"/>
              </a:ext>
            </a:extLst>
          </p:cNvPr>
          <p:cNvSpPr txBox="1"/>
          <p:nvPr/>
        </p:nvSpPr>
        <p:spPr>
          <a:xfrm>
            <a:off x="1756530" y="394703"/>
            <a:ext cx="10044062" cy="323165"/>
          </a:xfrm>
          <a:prstGeom prst="rect">
            <a:avLst/>
          </a:prstGeom>
          <a:noFill/>
        </p:spPr>
        <p:txBody>
          <a:bodyPr wrap="square" lIns="91440" tIns="45720" rIns="91440" bIns="45720" anchor="t">
            <a:spAutoFit/>
          </a:bodyPr>
          <a:lstStyle/>
          <a:p>
            <a:r>
              <a:rPr sz="1500" b="0"/>
              <a:t>DEPUTY EXECUTIVE GENERAL MANAGER DIGITAL PRODUCT</a:t>
            </a:r>
          </a:p>
        </p:txBody>
      </p:sp>
      <p:sp>
        <p:nvSpPr>
          <p:cNvPr id="13" name="TextBox 12">
            <a:extLst>
              <a:ext uri="{FF2B5EF4-FFF2-40B4-BE49-F238E27FC236}">
                <a16:creationId xmlns:a16="http://schemas.microsoft.com/office/drawing/2014/main" id="{9235F7D1-9BC3-A8AC-6509-AF7F5E10C932}"/>
              </a:ext>
            </a:extLst>
          </p:cNvPr>
          <p:cNvSpPr txBox="1"/>
          <p:nvPr/>
        </p:nvSpPr>
        <p:spPr>
          <a:xfrm>
            <a:off x="4222078" y="4879231"/>
            <a:ext cx="3824939" cy="230832"/>
          </a:xfrm>
          <a:prstGeom prst="rect">
            <a:avLst/>
          </a:prstGeom>
          <a:noFill/>
        </p:spPr>
        <p:txBody>
          <a:bodyPr wrap="square" rtlCol="0">
            <a:spAutoFit/>
          </a:bodyPr>
          <a:lstStyle/>
          <a:p>
            <a:r>
              <a:rPr sz="1050" b="0"/>
              <a:t>• Drove strategic business transformation initiatives</a:t>
            </a:r>
          </a:p>
          <a:p>
            <a:r>
              <a:rPr sz="1050" b="0"/>
              <a:t>• Enhanced customer experience and digitization</a:t>
            </a:r>
          </a:p>
          <a:p>
            <a:r>
              <a:rPr sz="1050" b="0"/>
              <a:t>• Developed organizational capabilities and policies</a:t>
            </a:r>
          </a:p>
          <a:p>
            <a:r>
              <a:rPr sz="1050" b="0"/>
              <a:t>• Led digital leadership and innovation efforts</a:t>
            </a:r>
          </a:p>
          <a:p>
            <a:r>
              <a:rPr sz="1050" b="0"/>
              <a:t>• Built strategic partnerships for business growth</a:t>
            </a:r>
          </a:p>
        </p:txBody>
      </p:sp>
      <p:sp>
        <p:nvSpPr>
          <p:cNvPr id="18" name="TextBox 17">
            <a:extLst>
              <a:ext uri="{FF2B5EF4-FFF2-40B4-BE49-F238E27FC236}">
                <a16:creationId xmlns:a16="http://schemas.microsoft.com/office/drawing/2014/main" id="{D61428E4-563A-92E5-0F26-E7FCC9B53F5A}"/>
              </a:ext>
            </a:extLst>
          </p:cNvPr>
          <p:cNvSpPr txBox="1"/>
          <p:nvPr/>
        </p:nvSpPr>
        <p:spPr>
          <a:xfrm>
            <a:off x="397139" y="5109583"/>
            <a:ext cx="3824939" cy="230832"/>
          </a:xfrm>
          <a:prstGeom prst="rect">
            <a:avLst/>
          </a:prstGeom>
          <a:noFill/>
        </p:spPr>
        <p:txBody>
          <a:bodyPr wrap="square" rtlCol="0">
            <a:spAutoFit/>
          </a:bodyPr>
          <a:lstStyle/>
          <a:p>
            <a:pPr lvl="0"/>
            <a:r>
              <a:rPr lang="en-US" sz="900" i="1" dirty="0">
                <a:solidFill>
                  <a:srgbClr val="000000"/>
                </a:solidFill>
              </a:rPr>
              <a:t>{{professional certificate}}</a:t>
            </a:r>
          </a:p>
        </p:txBody>
      </p:sp>
    </p:spTree>
    <p:extLst>
      <p:ext uri="{BB962C8B-B14F-4D97-AF65-F5344CB8AC3E}">
        <p14:creationId xmlns:p14="http://schemas.microsoft.com/office/powerpoint/2010/main" val="42839520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dd857ca-8d99-41ab-a7ff-9ad658845224" xsi:nil="true"/>
    <lcf76f155ced4ddcb4097134ff3c332f xmlns="0dc8cdee-5c32-4c3b-a37e-c7cec894158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70D2FDEF921341930B658B7AAD799C" ma:contentTypeVersion="16" ma:contentTypeDescription="Create a new document." ma:contentTypeScope="" ma:versionID="14e50de762fb8ce45ae00c042dbea9b5">
  <xsd:schema xmlns:xsd="http://www.w3.org/2001/XMLSchema" xmlns:xs="http://www.w3.org/2001/XMLSchema" xmlns:p="http://schemas.microsoft.com/office/2006/metadata/properties" xmlns:ns2="0dc8cdee-5c32-4c3b-a37e-c7cec894158f" xmlns:ns3="cdd857ca-8d99-41ab-a7ff-9ad658845224" targetNamespace="http://schemas.microsoft.com/office/2006/metadata/properties" ma:root="true" ma:fieldsID="5904eda81f3dbdf5a0ca62795ea3ad4c" ns2:_="" ns3:_="">
    <xsd:import namespace="0dc8cdee-5c32-4c3b-a37e-c7cec894158f"/>
    <xsd:import namespace="cdd857ca-8d99-41ab-a7ff-9ad65884522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c8cdee-5c32-4c3b-a37e-c7cec89415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23f6e3e-371f-4301-93a8-5a99bedc71d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d857ca-8d99-41ab-a7ff-9ad65884522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a4f7ea6-222a-40db-92a1-54146398d535}" ma:internalName="TaxCatchAll" ma:showField="CatchAllData" ma:web="cdd857ca-8d99-41ab-a7ff-9ad6588452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B283A5-7ACF-4DD8-BFFC-5C54B449A684}">
  <ds:schemaRefs>
    <ds:schemaRef ds:uri="http://schemas.microsoft.com/sharepoint/v3/contenttype/forms"/>
  </ds:schemaRefs>
</ds:datastoreItem>
</file>

<file path=customXml/itemProps2.xml><?xml version="1.0" encoding="utf-8"?>
<ds:datastoreItem xmlns:ds="http://schemas.openxmlformats.org/officeDocument/2006/customXml" ds:itemID="{9C1DC7C2-5F8C-4261-8A61-5AF9BB5E0650}">
  <ds:schemaRefs>
    <ds:schemaRef ds:uri="http://www.w3.org/XML/1998/namespace"/>
    <ds:schemaRef ds:uri="http://schemas.microsoft.com/office/infopath/2007/PartnerControls"/>
    <ds:schemaRef ds:uri="http://purl.org/dc/elements/1.1/"/>
    <ds:schemaRef ds:uri="http://purl.org/dc/dcmitype/"/>
    <ds:schemaRef ds:uri="http://schemas.openxmlformats.org/package/2006/metadata/core-properties"/>
    <ds:schemaRef ds:uri="http://purl.org/dc/terms/"/>
    <ds:schemaRef ds:uri="0dc8cdee-5c32-4c3b-a37e-c7cec894158f"/>
    <ds:schemaRef ds:uri="http://schemas.microsoft.com/office/2006/documentManagement/types"/>
    <ds:schemaRef ds:uri="http://schemas.microsoft.com/office/2006/metadata/properties"/>
    <ds:schemaRef ds:uri="cdd857ca-8d99-41ab-a7ff-9ad658845224"/>
  </ds:schemaRefs>
</ds:datastoreItem>
</file>

<file path=customXml/itemProps3.xml><?xml version="1.0" encoding="utf-8"?>
<ds:datastoreItem xmlns:ds="http://schemas.openxmlformats.org/officeDocument/2006/customXml" ds:itemID="{358A13FD-5B63-4E2D-B828-F8E026FB6F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c8cdee-5c32-4c3b-a37e-c7cec894158f"/>
    <ds:schemaRef ds:uri="cdd857ca-8d99-41ab-a7ff-9ad6588452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f19a4b6-b3e6-4fc4-96d0-402ab7d2872b}" enabled="0" method="" siteId="{9f19a4b6-b3e6-4fc4-96d0-402ab7d2872b}" removed="1"/>
</clbl:labelList>
</file>

<file path=docProps/app.xml><?xml version="1.0" encoding="utf-8"?>
<Properties xmlns="http://schemas.openxmlformats.org/officeDocument/2006/extended-properties" xmlns:vt="http://schemas.openxmlformats.org/officeDocument/2006/docPropsVTypes">
  <TotalTime>330</TotalTime>
  <Words>219</Words>
  <Application>Microsoft Office PowerPoint</Application>
  <PresentationFormat>Widescreen</PresentationFormat>
  <Paragraphs>54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Avenir Next LT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 Windihaksono</dc:creator>
  <cp:lastModifiedBy>Dimas Dwi Armaisya</cp:lastModifiedBy>
  <cp:revision>23</cp:revision>
  <dcterms:created xsi:type="dcterms:W3CDTF">2025-11-18T01:51:11Z</dcterms:created>
  <dcterms:modified xsi:type="dcterms:W3CDTF">2025-12-09T02:29:13Z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0x010100D170D2FDEF921341930B658B7AAD799C</vt:lpwstr>
  </property>
  <property fmtid="{D5CDD505-2E9C-101B-9397-08002B2CF9AE}" pid="3" name="MediaServiceImageTags">
    <vt:lpwstr/>
  </property>
</Properties>
</file>